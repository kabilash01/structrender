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style2.xml" ContentType="application/vnd.ms-office.chartstyle+xml"/>
  <Override PartName="/ppt/charts/chart2.xml" ContentType="application/vnd.openxmlformats-officedocument.drawingml.chart+xml"/>
  <Override PartName="/ppt/charts/colors2.xml" ContentType="application/vnd.ms-office.chartcolorstyl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  <p:extLst>
    <p:ext uri="{521415D9-36F7-43E2-AB2F-B90AF26B5E84}">
      <p14:sectionLst xmlns:p14="http://schemas.microsoft.com/office/powerpoint/2010/main">
        <p14:section name="Title" id="{ec253000-8959-b42d-a28a-49fa155ad5b9}">
          <p14:sldIdLst>
            <p14:sldId id="256"/>
          </p14:sldIdLst>
        </p14:section>
        <p14:section name="Introduction" id="{3945a810-1c5e-7642-da11-e5b9d6b18a8b}">
          <p14:sldIdLst>
            <p14:sldId id="257"/>
            <p14:sldId id="258"/>
            <p14:sldId id="259"/>
          </p14:sldIdLst>
        </p14:section>
        <p14:section name="Background" id="{0a39a821-2346-d02e-3978-f0de2fdad12e}">
          <p14:sldIdLst>
            <p14:sldId id="260"/>
          </p14:sldIdLst>
        </p14:section>
        <p14:section name="Method" id="{a1e4f170-91ea-79a9-2986-d50cf164c946}">
          <p14:sldIdLst>
            <p14:sldId id="261"/>
            <p14:sldId id="262"/>
            <p14:sldId id="263"/>
            <p14:sldId id="264"/>
            <p14:sldId id="265"/>
          </p14:sldIdLst>
        </p14:section>
        <p14:section name="Results" id="{7da65a8a-7170-dff4-d8ef-35e23ed7546c}">
          <p14:sldIdLst>
            <p14:sldId id="266"/>
            <p14:sldId id="267"/>
          </p14:sldIdLst>
        </p14:section>
        <p14:section name="Output" id="{d369404f-dc2c-68f2-9a2e-f0ebe5047824}">
          <p14:sldIdLst>
            <p14:sldId id="268"/>
            <p14:sldId id="269"/>
          </p14:sldIdLst>
        </p14:section>
        <p14:section name="Conclusion" id="{97471873-1ef6-4141-ca82-b966cef0c7ed}">
          <p14:sldIdLst>
            <p14:sldId id="270"/>
            <p14:sldId id="271"/>
          </p14:sldIdLst>
        </p14:section>
        <p14:section name="References" id="{3923aee8-16f4-bb0d-9381-5a0977aab164}">
          <p14:sldIdLst>
            <p14:sldId id="272"/>
            <p14:sldId id="273"/>
            <p14:sldId id="27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800" b="0" u="none" strike="noStrike">
                <a:solidFill>
                  <a:srgbClr val="000000"/>
                </a:solidFill>
                <a:uFillTx/>
                <a:latin typeface="Times New Roman"/>
              </a:rPr>
              <a:t>Sharpness on the ablation test set (gate 0.90)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Sharpness</c:v>
                </c:pt>
              </c:strCache>
            </c:strRef>
          </c:tx>
          <c:spPr>
            <a:solidFill>
              <a:srgbClr val="800000"/>
            </a:solidFill>
            <a:ln w="0">
              <a:noFill/>
            </a:ln>
          </c:spPr>
          <c:invertIfNegative val="0"/>
          <c:dLbls>
            <c:numFmt formatCode="0.000" sourceLinked="0"/>
            <c:txPr>
              <a:bodyPr wrap="square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Times New Roman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A U-Net</c:v>
                </c:pt>
                <c:pt idx="1">
                  <c:v>B U-Net + temporal</c:v>
                </c:pt>
                <c:pt idx="2">
                  <c:v>C StructFormer</c:v>
                </c:pt>
                <c:pt idx="3">
                  <c:v>D StructFormer + temporal</c:v>
                </c:pt>
                <c:pt idx="4">
                  <c:v>E + entity</c:v>
                </c:pt>
                <c:pt idx="5">
                  <c:v>N raw-ID control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0.912</c:v>
                </c:pt>
                <c:pt idx="1">
                  <c:v>0.897</c:v>
                </c:pt>
                <c:pt idx="2">
                  <c:v>0.853</c:v>
                </c:pt>
                <c:pt idx="3">
                  <c:v>0.858</c:v>
                </c:pt>
                <c:pt idx="4">
                  <c:v>0.884</c:v>
                </c:pt>
                <c:pt idx="5">
                  <c:v>0.88</c:v>
                </c:pt>
              </c:numCache>
            </c:numRef>
          </c:val>
        </c:ser>
        <c:gapWidth val="150"/>
        <c:overlap val="0"/>
        <c:axId val="57039205"/>
        <c:axId val="3729334"/>
      </c:barChart>
      <c:catAx>
        <c:axId val="57039205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400" b="0" u="none" strike="noStrike">
                <a:solidFill>
                  <a:srgbClr val="000000"/>
                </a:solidFill>
                <a:uFillTx/>
                <a:latin typeface="Times New Roman"/>
              </a:defRPr>
            </a:pPr>
          </a:p>
        </c:txPr>
        <c:crossAx val="3729334"/>
        <c:crosses val="autoZero"/>
        <c:auto val="1"/>
        <c:lblAlgn val="ctr"/>
        <c:lblOffset val="100"/>
        <c:noMultiLvlLbl val="0"/>
      </c:catAx>
      <c:valAx>
        <c:axId val="3729334"/>
        <c:scaling>
          <c:orientation val="minMax"/>
          <c:max val="0.94"/>
          <c:min val="0.8"/>
        </c:scaling>
        <c:delete val="0"/>
        <c:axPos val="l"/>
        <c:majorGridlines>
          <c:spPr>
            <a:ln w="6480">
              <a:solidFill>
                <a:srgbClr val="E0E0E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Times New Roman"/>
              </a:defRPr>
            </a:pPr>
          </a:p>
        </c:txPr>
        <c:crossAx val="57039205"/>
        <c:crosses val="autoZero"/>
        <c:crossBetween val="between"/>
        <c:majorUnit val="0.02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800" b="0" u="none" strike="noStrike">
                <a:solidFill>
                  <a:srgbClr val="000000"/>
                </a:solidFill>
                <a:uFillTx/>
                <a:latin typeface="Times New Roman"/>
              </a:rPr>
              <a:t>Live frames per second (target 30)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Oil</c:v>
                </c:pt>
              </c:strCache>
            </c:strRef>
          </c:tx>
          <c:spPr>
            <a:solidFill>
              <a:srgbClr val="800000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Times New Roman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No history</c:v>
                </c:pt>
                <c:pt idx="1">
                  <c:v>History, FP32</c:v>
                </c:pt>
                <c:pt idx="2">
                  <c:v>History, FP16 (shipped)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50.2</c:v>
                </c:pt>
                <c:pt idx="1">
                  <c:v>41.8</c:v>
                </c:pt>
                <c:pt idx="2">
                  <c:v>44.6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Watercolour</c:v>
                </c:pt>
              </c:strCache>
            </c:strRef>
          </c:tx>
          <c:spPr>
            <a:solidFill>
              <a:srgbClr val="8C8C8C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Times New Roman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No history</c:v>
                </c:pt>
                <c:pt idx="1">
                  <c:v>History, FP32</c:v>
                </c:pt>
                <c:pt idx="2">
                  <c:v>History, FP16 (shipped)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45.8</c:v>
                </c:pt>
                <c:pt idx="1">
                  <c:v>41</c:v>
                </c:pt>
                <c:pt idx="2">
                  <c:v>44.7</c:v>
                </c:pt>
              </c:numCache>
            </c:numRef>
          </c:val>
        </c:ser>
        <c:gapWidth val="150"/>
        <c:overlap val="0"/>
        <c:axId val="40425679"/>
        <c:axId val="97078038"/>
      </c:barChart>
      <c:catAx>
        <c:axId val="4042567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400" b="0" u="none" strike="noStrike">
                <a:solidFill>
                  <a:srgbClr val="000000"/>
                </a:solidFill>
                <a:uFillTx/>
                <a:latin typeface="Times New Roman"/>
              </a:defRPr>
            </a:pPr>
          </a:p>
        </c:txPr>
        <c:crossAx val="97078038"/>
        <c:crosses val="autoZero"/>
        <c:auto val="1"/>
        <c:lblAlgn val="ctr"/>
        <c:lblOffset val="100"/>
        <c:noMultiLvlLbl val="0"/>
      </c:catAx>
      <c:valAx>
        <c:axId val="97078038"/>
        <c:scaling>
          <c:orientation val="minMax"/>
          <c:max val="60"/>
          <c:min val="0"/>
        </c:scaling>
        <c:delete val="0"/>
        <c:axPos val="l"/>
        <c:majorGridlines>
          <c:spPr>
            <a:ln w="6480">
              <a:solidFill>
                <a:srgbClr val="E0E0E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Times New Roman"/>
              </a:defRPr>
            </a:pPr>
          </a:p>
        </c:txPr>
        <c:crossAx val="40425679"/>
        <c:crosses val="autoZero"/>
        <c:crossBetween val="between"/>
        <c:majorUnit val="10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400" b="0" u="none" strike="noStrike">
              <a:solidFill>
                <a:srgbClr val="000000"/>
              </a:solidFill>
              <a:uFillTx/>
              <a:latin typeface="Times New Roman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738A437-2143-4E63-A68E-C181AE827C6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StructRender: a game engine keeps all gameplay truth, and a small neural network renders each frame in a learned painted style, live.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8332F5D-B623-4350-978D-D251EA6876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State the problem, then the obstacles that make it hard.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EB02EB-5634-47E8-AC6D-62E1753932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Neural rendering from engine buffers; StructRender keeps the engine in charge.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276DAA-48AB-4C59-AC38-6F7F3742A9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Eight objectives, each with a measurable target fixed before the results existed.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5794632-BBF6-4E3C-BBA2-6EDA53BAD7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Related work in four groups; the last column is what each leaves open for this project.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7DF695-48CE-434C-8F20-1A461A24AF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Offline: record, teacher, gates, train, export. Runtime: one loop per game frame inside Godot.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C88B745-4254-4A13-80ED-3FDF577820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Stages 1-3: from the game to a validated dataset.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1C8D2C5-1CF9-4897-A282-C24C6A5BBC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Stages 4-6: targets, gates and the network.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543F12B-FE04-4C76-9C59-5A11C3BB09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Stages 7-8: from the trained model to the live game.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8B6F18-2B15-401A-8811-1C45CE4A14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per-frame algorithm, and the techniques it relies 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68969B3-6CAE-4BCF-878A-ACD2EDC0EF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Held-out game test sessions, 2,968 frames per style.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99BAA3-82E6-41E0-9E39-18FF3BE6F4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plain U-Net beats the transformer; the live loop runs well above 30 fps.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FE56CF-97BC-4287-B314-D3BEF0A186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Real output of the trained model, live in the game and on a sealed test frame.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BF2C90-2B39-4177-8F09-7B77889ADC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separate browser web-swinging game (structrender.vercel.app) with 16 hand-made shader themes. These images are not output of the StructRender model.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764BC9-AEA1-4741-9C15-B4BC8F9823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 directions that follow directly from the limitations.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8ED454-7BE0-421F-B9C7-619181D5A9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was delivered and what was learned.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A1E8F3D-F43B-4FA8-87C8-9AE4A1E375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50BF872-064C-4E39-81F3-F82E2D0F0D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9C68DA2-F6DD-40BB-89CA-F78BAD0207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C71F0AC-89A1-4026-9841-2AC1D449BA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54960" cy="867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the title text 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format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502920" y="6382440"/>
            <a:ext cx="547920" cy="3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4595B80F-8AB2-4CD7-9D2C-16F390471CE5}" type="slidenum">
              <a: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Sri Ramachandra Institute of Higher Education and Research logo"/>
          <p:cNvPicPr/>
          <p:nvPr/>
        </p:nvPicPr>
        <p:blipFill>
          <a:blip r:embed="rId1"/>
          <a:stretch/>
        </p:blipFill>
        <p:spPr>
          <a:xfrm>
            <a:off x="2441520" y="320040"/>
            <a:ext cx="7314480" cy="146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0"/>
          <p:cNvSpPr/>
          <p:nvPr/>
        </p:nvSpPr>
        <p:spPr>
          <a:xfrm>
            <a:off x="548640" y="1965960"/>
            <a:ext cx="11090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ADA23DLU06 – RECENT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TRENDS IN DEEP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LEARNING LABORATORY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822960" y="2606040"/>
            <a:ext cx="1054224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StructRender: </a:t>
            </a:r>
            <a:r>
              <a:rPr lang="en-US" sz="40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Engine-</a:t>
            </a:r>
            <a:r>
              <a:rPr lang="en-US" sz="40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Grounded Real-</a:t>
            </a:r>
            <a:r>
              <a:rPr lang="en-US" sz="40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Time Neural </a:t>
            </a:r>
            <a:r>
              <a:rPr lang="en-US" sz="40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Rendering of a </a:t>
            </a:r>
            <a:r>
              <a:rPr lang="en-US" sz="40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Game in </a:t>
            </a:r>
            <a:r>
              <a:rPr lang="en-US" sz="40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Learned </a:t>
            </a:r>
            <a:r>
              <a:rPr lang="en-US" sz="40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Painterly Styles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548640" y="4892040"/>
            <a:ext cx="50284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i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Submitted by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Kabilash S – E0323036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Pavitra P – E0323038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6611040" y="4892040"/>
            <a:ext cx="50284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 hasCustomPrompt="1"/>
          </p:nvPr>
        </p:nvSpPr>
        <p:spPr>
          <a:xfrm>
            <a:off x="502920" y="274320"/>
            <a:ext cx="11154960" cy="86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Problem </a:t>
            </a: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Statement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Text 1"/>
          <p:cNvSpPr/>
          <p:nvPr/>
        </p:nvSpPr>
        <p:spPr>
          <a:xfrm>
            <a:off x="502920" y="1371600"/>
            <a:ext cx="111549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Render the structure a game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engine already computes for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each frame in a learned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artistic style, at interactive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frame rates, while the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engine, not the network,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decides what exists and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where.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502920" y="2697480"/>
            <a:ext cx="1115496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World facts drift: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generative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game models such as GameNGen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and Genie [10], [11] predict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pixels and hold no authoritative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game state.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No paired data: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painted versions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of game frames do not exist, and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 diffusion teacher can invent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geometry.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Flicker: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styling each frame on its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own makes the output shimmer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from frame to frame [9].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Real-time limits: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renderer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must run live on an 8 GB laptop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GPU and must provably be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model that was evaluated.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5"/>
          </p:nvPr>
        </p:nvSpPr>
        <p:spPr>
          <a:xfrm>
            <a:off x="502920" y="6382440"/>
            <a:ext cx="547920" cy="3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8730EEFB-D976-456E-894F-1C94FD4C57E0}" type="slidenum">
              <a: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 hasCustomPrompt="1"/>
          </p:nvPr>
        </p:nvSpPr>
        <p:spPr>
          <a:xfrm>
            <a:off x="502920" y="274320"/>
            <a:ext cx="11154960" cy="86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Introduction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Text 1"/>
          <p:cNvSpPr/>
          <p:nvPr/>
        </p:nvSpPr>
        <p:spPr>
          <a:xfrm>
            <a:off x="502920" y="1325880"/>
            <a:ext cx="1115496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Changing a game's look, for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example into an oil painting,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normally means re-authoring its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materials and shaders.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Neural rendering lets a network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map scene information to an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image in a target appearance [1].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Game engines already compute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that information every frame: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depth, normals and albedo, the G-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buffer [2].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Generative world models instead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predict whole frames from pixels,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so objects and positions can drift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[10], [11].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StructRender keeps Godot in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charge of physics, logic and entity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identity; the network decides only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how each frame looks.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 diffusion model is used offline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only, to make training targets; a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small U-Net runs live through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TensorRT.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style can be switched during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play without changing anything in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game.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Native Godot frame and the same frame rendered live in oil and watercolour"/>
          <p:cNvPicPr/>
          <p:nvPr/>
        </p:nvPicPr>
        <p:blipFill>
          <a:blip r:embed="rId1"/>
          <a:stretch/>
        </p:blipFill>
        <p:spPr>
          <a:xfrm>
            <a:off x="1280160" y="4389120"/>
            <a:ext cx="9600480" cy="19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2"/>
          <p:cNvSpPr/>
          <p:nvPr/>
        </p:nvSpPr>
        <p:spPr>
          <a:xfrm>
            <a:off x="1280160" y="63824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95959"/>
                </a:solidFill>
                <a:effectLst/>
                <a:uFillTx/>
                <a:latin typeface="Times New Roman"/>
              </a:rPr>
              <a:t>The same live frame: native Godot render, </a:t>
            </a:r>
            <a:r>
              <a:rPr lang="en-US" sz="1400" b="0" i="1" u="none" strike="noStrike">
                <a:solidFill>
                  <a:srgbClr val="595959"/>
                </a:solidFill>
                <a:effectLst/>
                <a:uFillTx/>
                <a:latin typeface="Times New Roman"/>
              </a:rPr>
              <a:t>StructRender oil, StructRender watercolour.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ldNum" idx="6"/>
          </p:nvPr>
        </p:nvSpPr>
        <p:spPr>
          <a:xfrm>
            <a:off x="502920" y="6382440"/>
            <a:ext cx="547920" cy="3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21F1FDE-C2D7-4FCD-ADB9-000DE41E3E14}" type="slidenum">
              <a: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 hasCustomPrompt="1"/>
          </p:nvPr>
        </p:nvSpPr>
        <p:spPr>
          <a:xfrm>
            <a:off x="502920" y="274320"/>
            <a:ext cx="11154960" cy="86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Objectives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Text 1"/>
          <p:cNvSpPr/>
          <p:nvPr/>
        </p:nvSpPr>
        <p:spPr>
          <a:xfrm>
            <a:off x="502920" y="1371600"/>
            <a:ext cx="11154960" cy="48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t">
            <a:noAutofit/>
          </a:bodyPr>
          <a:p>
            <a:pPr marL="343080" indent="-343080" algn="just" defTabSz="914400">
              <a:lnSpc>
                <a:spcPct val="100000"/>
              </a:lnSpc>
              <a:spcAft>
                <a:spcPts val="901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Export depth, normals,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albedo, motion and entity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IDs from the Godot game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every frame.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Aft>
                <a:spcPts val="901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Generate styled training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targets with a diffusion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teacher, accepted only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through 4 alignment gates.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Aft>
                <a:spcPts val="901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Reach sharpness ≥ 0.90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and colour travel ≥ 0.80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relative to the teacher on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held-out sessions.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Aft>
                <a:spcPts val="901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Reduce flicker with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engine-guided temporal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reprojection beyond a pre-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registered noise threshold.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Aft>
                <a:spcPts val="901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Compare U-Net and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transformer renderers,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temporal input, entity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awareness and memory at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equal size.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Aft>
                <a:spcPts val="901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Render two styles with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one model and switch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between them during play.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Aft>
                <a:spcPts val="901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Deploy through ONNX,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TensorRT and C++ in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Godot at about 30 fps,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with a native-frame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fallback.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spcAft>
                <a:spcPts val="901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Test whether a per-entity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appearance memory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(EPAM) improves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output.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7"/>
          </p:nvPr>
        </p:nvSpPr>
        <p:spPr>
          <a:xfrm>
            <a:off x="502920" y="6382440"/>
            <a:ext cx="547920" cy="3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6E2DED8-BF6D-44E6-A10A-CF00F9F5B570}" type="slidenum">
              <a: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 hasCustomPrompt="1"/>
          </p:nvPr>
        </p:nvSpPr>
        <p:spPr>
          <a:xfrm>
            <a:off x="502920" y="274320"/>
            <a:ext cx="11154960" cy="86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Basic </a:t>
            </a: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Research </a:t>
            </a: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Survey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1" name="Table 0"/>
          <p:cNvGraphicFramePr/>
          <p:nvPr/>
        </p:nvGraphicFramePr>
        <p:xfrm>
          <a:off x="502920" y="1325880"/>
          <a:ext cx="11155320" cy="4607280"/>
        </p:xfrm>
        <a:graphic>
          <a:graphicData uri="http://schemas.openxmlformats.org/drawingml/2006/table">
            <a:tbl>
              <a:tblPr/>
              <a:tblGrid>
                <a:gridCol w="3657600"/>
                <a:gridCol w="4114800"/>
                <a:gridCol w="3383280"/>
              </a:tblGrid>
              <a:tr h="511920"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Work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Method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Gap for this project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solidFill>
                      <a:srgbClr val="800000"/>
                    </a:solidFill>
                  </a:tcPr>
                </a:tc>
              </a:tr>
              <a:tr h="511920"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Deep Shading, 2017 [3]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CNN maps G-buffers to screen-space shading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Single frame; photographic goal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511920"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Neural Supersampling, 2020 [4]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Warps past frames by engine motion + CNN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Engine look only, no style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511920"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Photorealism Enhancement, 2023 [5]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G-buffer-conditioned, adversarial enhancement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Real-photo domain, not artistic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511920"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pix2pix, 2017 [6]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Conditional GAN with a U-Net generator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Needs paired data; per frame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511920"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vid2vid / WC-vid2vid, 2018–20 [7], [8]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Flow warping; 3D-guided consistency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Estimated flow; heavy model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511920"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Lai et al., 2018 [9]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Post-hoc temporal-consistency network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Estimated flow; extra pass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511920"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GameNGen / Genie, 2024–25 [10], [11]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Generative game engines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No authoritative game state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511920"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ControlNet, 2023 [12]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Depth-controlled diffusion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3080" tIns="27360" rIns="73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Slow; no temporal consistency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27360" marB="2736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" name="PlaceHolder 2"/>
          <p:cNvSpPr>
            <a:spLocks noGrp="1"/>
          </p:cNvSpPr>
          <p:nvPr>
            <p:ph type="sldNum" idx="8"/>
          </p:nvPr>
        </p:nvSpPr>
        <p:spPr>
          <a:xfrm>
            <a:off x="502920" y="6382440"/>
            <a:ext cx="547920" cy="3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E19904D-F33A-4D2B-95B8-BE92851EFCF0}" type="slidenum">
              <a: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 hasCustomPrompt="1"/>
          </p:nvPr>
        </p:nvSpPr>
        <p:spPr>
          <a:xfrm>
            <a:off x="502920" y="274320"/>
            <a:ext cx="11154960" cy="86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System </a:t>
            </a: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Architectur</a:t>
            </a: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e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34" name="Image 0" descr="System architecture: offline data and supervision, and the runtime loop"/>
          <p:cNvPicPr/>
          <p:nvPr/>
        </p:nvPicPr>
        <p:blipFill>
          <a:blip r:embed="rId1"/>
          <a:stretch/>
        </p:blipFill>
        <p:spPr>
          <a:xfrm>
            <a:off x="502920" y="1280160"/>
            <a:ext cx="6765840" cy="506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1"/>
          <p:cNvSpPr/>
          <p:nvPr/>
        </p:nvSpPr>
        <p:spPr>
          <a:xfrm>
            <a:off x="7589520" y="1371600"/>
            <a:ext cx="4068360" cy="48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Offline: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record play sessions,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make teacher targets, check them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with 4 alignment gates, train the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U-Net, export to ONNX and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TensorRT.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Runtime: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every frame Godot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captures 4 passes, C++ computes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motion and the new-entity mask,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TensorRT renders, Godot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displays.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Fallback: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any renderer error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shows the native frame, so the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game never waits.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502920" y="6382440"/>
            <a:ext cx="547920" cy="3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8EC66010-ED2A-44BD-983E-3D395A8542FF}" type="slidenum">
              <a: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 hasCustomPrompt="1"/>
          </p:nvPr>
        </p:nvSpPr>
        <p:spPr>
          <a:xfrm>
            <a:off x="502920" y="274320"/>
            <a:ext cx="11154960" cy="86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Proposed </a:t>
            </a: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Methodol</a:t>
            </a: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ogy 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ipeline"/>
          <p:cNvSpPr/>
          <p:nvPr/>
        </p:nvSpPr>
        <p:spPr>
          <a:xfrm>
            <a:off x="502920" y="1188720"/>
            <a:ext cx="11154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Godot game</a:t>
            </a:r>
            <a:r>
              <a:rPr lang="en-US" sz="1800" b="0" u="none" strike="noStrike">
                <a:solidFill>
                  <a:srgbClr val="8C8C8C"/>
                </a:solidFill>
                <a:effectLst/>
                <a:uFillTx/>
                <a:latin typeface="Times New Roman"/>
              </a:rPr>
              <a:t>  →  </a:t>
            </a:r>
            <a:r>
              <a:rPr lang="en-US" sz="18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Export</a:t>
            </a:r>
            <a:r>
              <a:rPr lang="en-US" sz="1800" b="0" u="none" strike="noStrike">
                <a:solidFill>
                  <a:srgbClr val="8C8C8C"/>
                </a:solidFill>
                <a:effectLst/>
                <a:uFillTx/>
                <a:latin typeface="Times New Roman"/>
              </a:rPr>
              <a:t>  </a:t>
            </a:r>
            <a:r>
              <a:rPr lang="en-US" sz="1800" b="0" u="none" strike="noStrike">
                <a:solidFill>
                  <a:srgbClr val="8C8C8C"/>
                </a:solidFill>
                <a:effectLst/>
                <a:uFillTx/>
                <a:latin typeface="Times New Roman"/>
              </a:rPr>
              <a:t>→  </a:t>
            </a:r>
            <a:r>
              <a:rPr lang="en-US" sz="18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Record</a:t>
            </a:r>
            <a:r>
              <a:rPr lang="en-US" sz="1800" b="0" u="none" strike="noStrike">
                <a:solidFill>
                  <a:srgbClr val="8C8C8C"/>
                </a:solidFill>
                <a:effectLst/>
                <a:uFillTx/>
                <a:latin typeface="Times New Roman"/>
              </a:rPr>
              <a:t>  →  Teacher  →  </a:t>
            </a:r>
            <a:r>
              <a:rPr lang="en-US" sz="1800" b="0" u="none" strike="noStrike">
                <a:solidFill>
                  <a:srgbClr val="8C8C8C"/>
                </a:solidFill>
                <a:effectLst/>
                <a:uFillTx/>
                <a:latin typeface="Times New Roman"/>
              </a:rPr>
              <a:t>Gates  →  Train  →  Deploy  </a:t>
            </a:r>
            <a:r>
              <a:rPr lang="en-US" sz="1800" b="0" u="none" strike="noStrike">
                <a:solidFill>
                  <a:srgbClr val="8C8C8C"/>
                </a:solidFill>
                <a:effectLst/>
                <a:uFillTx/>
                <a:latin typeface="Times New Roman"/>
              </a:rPr>
              <a:t>→  Live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502920" y="1828800"/>
            <a:ext cx="539424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 Godot game: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an arena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collector (player, coins,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spawned enemies) running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physics at 60 Hz; the engine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owns all game state.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2. Structural export: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override-shader passes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render depth, normals,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albedo and an entity-ID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map; motion is computed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analytically.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3. Recording and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validation: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scripted play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advances one physics step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per frame; a validator rejects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bad sessions. 24 sessions ×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990 frames = 23,760 frames,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split 18 / 3 / 3 by session.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0" descr="One test frame: native render, input channels, entity IDs, motion, confidence mask, teacher target"/>
          <p:cNvPicPr/>
          <p:nvPr/>
        </p:nvPicPr>
        <p:blipFill>
          <a:blip r:embed="rId1"/>
          <a:stretch/>
        </p:blipFill>
        <p:spPr>
          <a:xfrm>
            <a:off x="6127200" y="1992240"/>
            <a:ext cx="5531400" cy="189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3"/>
          <p:cNvSpPr/>
          <p:nvPr/>
        </p:nvSpPr>
        <p:spPr>
          <a:xfrm>
            <a:off x="6127200" y="4572000"/>
            <a:ext cx="55314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95959"/>
                </a:solidFill>
                <a:effectLst/>
                <a:uFillTx/>
                <a:latin typeface="Times New Roman"/>
              </a:rPr>
              <a:t>Exported for one test frame: native render, depth, normals, albedo, entity IDs, motion, confidence mask, oil target.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10"/>
          </p:nvPr>
        </p:nvSpPr>
        <p:spPr>
          <a:xfrm>
            <a:off x="502920" y="6382440"/>
            <a:ext cx="547920" cy="3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C7324DC7-2E07-4338-846E-B6651F7F0D3A}" type="slidenum">
              <a: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 hasCustomPrompt="1"/>
          </p:nvPr>
        </p:nvSpPr>
        <p:spPr>
          <a:xfrm>
            <a:off x="502920" y="274320"/>
            <a:ext cx="11154960" cy="86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Proposed Methodology (2/3)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ipeline"/>
          <p:cNvSpPr/>
          <p:nvPr/>
        </p:nvSpPr>
        <p:spPr>
          <a:xfrm>
            <a:off x="502920" y="1188720"/>
            <a:ext cx="11154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8C8C8C"/>
                </a:solidFill>
                <a:effectLst/>
                <a:uFillTx/>
                <a:latin typeface="Times New Roman"/>
              </a:rPr>
              <a:t>Godot game  →  Export  →  Record  →  </a:t>
            </a:r>
            <a:r>
              <a:rPr lang="en-US" sz="18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Teacher</a:t>
            </a:r>
            <a:r>
              <a:rPr lang="en-US" sz="1800" b="0" u="none" strike="noStrike">
                <a:solidFill>
                  <a:srgbClr val="8C8C8C"/>
                </a:solidFill>
                <a:effectLst/>
                <a:uFillTx/>
                <a:latin typeface="Times New Roman"/>
              </a:rPr>
              <a:t>  →  </a:t>
            </a:r>
            <a:r>
              <a:rPr lang="en-US" sz="18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Gates</a:t>
            </a:r>
            <a:r>
              <a:rPr lang="en-US" sz="1800" b="0" u="none" strike="noStrike">
                <a:solidFill>
                  <a:srgbClr val="8C8C8C"/>
                </a:solidFill>
                <a:effectLst/>
                <a:uFillTx/>
                <a:latin typeface="Times New Roman"/>
              </a:rPr>
              <a:t>  →  </a:t>
            </a:r>
            <a:r>
              <a:rPr lang="en-US" sz="18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Train</a:t>
            </a:r>
            <a:r>
              <a:rPr lang="en-US" sz="1800" b="0" u="none" strike="noStrike">
                <a:solidFill>
                  <a:srgbClr val="8C8C8C"/>
                </a:solidFill>
                <a:effectLst/>
                <a:uFillTx/>
                <a:latin typeface="Times New Roman"/>
              </a:rPr>
              <a:t>  →  Deploy  →  Live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502920" y="1828800"/>
            <a:ext cx="539424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4. Teacher targets: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Stable Diffusion 1.5 + depth ControlNet [12], [13] restyles each frame offline, guided by the engine's depth (oil 0.50, watercolour 0.55).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5. Alignment gates: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boundary F ≥ 0.60, spurious edges ≤ 0.35, silhouettes ≥ 0.60, stylisation ≥ 0.15; 11 of 23,760 frames excluded.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6. Training: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StyleTemporalUNet [14], [15] (8.39 M parameters), loss L1 + 0.5 LPIPS [16] + 0.5 masked temporal; AdamW, 60 epochs, 29.2 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 0" descr="StyleTemporalUNet architecture diagram"/>
          <p:cNvPicPr/>
          <p:nvPr/>
        </p:nvPicPr>
        <p:blipFill>
          <a:blip r:embed="rId1"/>
          <a:stretch/>
        </p:blipFill>
        <p:spPr>
          <a:xfrm>
            <a:off x="6126480" y="1828800"/>
            <a:ext cx="5531400" cy="366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2"/>
          <p:cNvSpPr>
            <a:spLocks noGrp="1"/>
          </p:cNvSpPr>
          <p:nvPr>
            <p:ph type="sldNum" idx="11"/>
          </p:nvPr>
        </p:nvSpPr>
        <p:spPr>
          <a:xfrm>
            <a:off x="502920" y="6382440"/>
            <a:ext cx="547920" cy="3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A73728D-9906-4B71-81AE-73C9994A015F}" type="slidenum">
              <a: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 hasCustomPrompt="1"/>
          </p:nvPr>
        </p:nvSpPr>
        <p:spPr>
          <a:xfrm>
            <a:off x="502920" y="274320"/>
            <a:ext cx="11154960" cy="86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Proposed Methodology (3/3)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ipeline"/>
          <p:cNvSpPr/>
          <p:nvPr/>
        </p:nvSpPr>
        <p:spPr>
          <a:xfrm>
            <a:off x="502920" y="1188720"/>
            <a:ext cx="11154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8C8C8C"/>
                </a:solidFill>
                <a:effectLst/>
                <a:uFillTx/>
                <a:latin typeface="Times New Roman"/>
              </a:rPr>
              <a:t>Godot game  →  Export  →  Record  →  Teacher  →  Gates  →  Train  →  </a:t>
            </a:r>
            <a:r>
              <a:rPr lang="en-US" sz="18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Deploy</a:t>
            </a:r>
            <a:r>
              <a:rPr lang="en-US" sz="1800" b="0" u="none" strike="noStrike">
                <a:solidFill>
                  <a:srgbClr val="8C8C8C"/>
                </a:solidFill>
                <a:effectLst/>
                <a:uFillTx/>
                <a:latin typeface="Times New Roman"/>
              </a:rPr>
              <a:t>  →  </a:t>
            </a:r>
            <a:r>
              <a:rPr lang="en-US" sz="18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Live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502920" y="1828800"/>
            <a:ext cx="539424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7. Deploy: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one live step of the model, including the confidence mask, is exported to ONNX and compiled to a TensorRT FP16 engine per style [18].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8. Live runtime: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 C++ GDExtension inside Godot [19] runs the engine every frame with the previous frame's features; any error shows the native frame.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Check: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live frame matches the evaluated model to within one colour level in 255.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0" descr="Live frame rate of the whole loop and TensorRT latency"/>
          <p:cNvPicPr/>
          <p:nvPr/>
        </p:nvPicPr>
        <p:blipFill>
          <a:blip r:embed="rId1"/>
          <a:stretch/>
        </p:blipFill>
        <p:spPr>
          <a:xfrm>
            <a:off x="6126480" y="2011680"/>
            <a:ext cx="5531400" cy="159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3"/>
          <p:cNvSpPr/>
          <p:nvPr/>
        </p:nvSpPr>
        <p:spPr>
          <a:xfrm>
            <a:off x="6126480" y="3657600"/>
            <a:ext cx="55314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95959"/>
                </a:solidFill>
                <a:effectLst/>
                <a:uFillTx/>
                <a:latin typeface="Times New Roman"/>
              </a:rPr>
              <a:t>Live frame rate in the game (target 30 fps) and TensorRT time per step (budget 20 ms).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12"/>
          </p:nvPr>
        </p:nvSpPr>
        <p:spPr>
          <a:xfrm>
            <a:off x="502920" y="6382440"/>
            <a:ext cx="547920" cy="3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24E7F0A-5CD6-40D1-968B-EE287F9345AF}" type="slidenum">
              <a: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 hasCustomPrompt="1"/>
          </p:nvPr>
        </p:nvSpPr>
        <p:spPr>
          <a:xfrm>
            <a:off x="502920" y="274320"/>
            <a:ext cx="11154960" cy="86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Algorithms and Techniques Used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Text 1"/>
          <p:cNvSpPr/>
          <p:nvPr/>
        </p:nvSpPr>
        <p:spPr>
          <a:xfrm>
            <a:off x="502920" y="1325880"/>
            <a:ext cx="6034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Per-frame runtime algorithm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502920" y="1874520"/>
            <a:ext cx="6034320" cy="42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  Godot steps physics and captures depth, normals, albedo and entity-ID passes.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2.  C++ computes motion vectors and the no-history mask for new entities.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3.  Previous features are warped by engine motion and masked.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4.  TensorRT FP16 engine renders the frame in the selected style.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5.  Display the frame and keep its features for the next frame.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6.  On any error, show the native frame; gameplay never waits.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6858000" y="1325880"/>
            <a:ext cx="4799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Techniques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6858000" y="1874520"/>
            <a:ext cx="4799880" cy="42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U-Net convolutional network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FiLM style conditioning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Engine motion-vector warping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Confidence (disocclusion) masking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Stable Diffusion 1.5 + ControlNet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LPIPS perceptual loss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AdamW with cosine learning rate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bfloat16 mixed precision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ONNX export, TensorRT FP16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C++ GDExtension in Godot 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13"/>
          </p:nvPr>
        </p:nvSpPr>
        <p:spPr>
          <a:xfrm>
            <a:off x="502920" y="6382440"/>
            <a:ext cx="547920" cy="3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17959381-A859-4711-89EA-D5D04DB94A21}" type="slidenum">
              <a: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 hasCustomPrompt="1"/>
          </p:nvPr>
        </p:nvSpPr>
        <p:spPr>
          <a:xfrm>
            <a:off x="502920" y="274320"/>
            <a:ext cx="11154960" cy="86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Results: Image Quality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stat 1"/>
          <p:cNvSpPr/>
          <p:nvPr/>
        </p:nvSpPr>
        <p:spPr>
          <a:xfrm>
            <a:off x="502920" y="1371600"/>
            <a:ext cx="26510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35.33 dB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PSNR, oil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tat 2"/>
          <p:cNvSpPr/>
          <p:nvPr/>
        </p:nvSpPr>
        <p:spPr>
          <a:xfrm>
            <a:off x="3319200" y="1371600"/>
            <a:ext cx="26510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34.79 dB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PSNR, watercolour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tat 3"/>
          <p:cNvSpPr/>
          <p:nvPr/>
        </p:nvSpPr>
        <p:spPr>
          <a:xfrm>
            <a:off x="6135480" y="1371600"/>
            <a:ext cx="26510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0.54× / 0.48×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flicker vs. its own teacher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tat 4"/>
          <p:cNvSpPr/>
          <p:nvPr/>
        </p:nvSpPr>
        <p:spPr>
          <a:xfrm>
            <a:off x="8952120" y="1371600"/>
            <a:ext cx="26510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7.3–7.8 dB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better than showing the native frame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5" name="Table 0"/>
          <p:cNvGraphicFramePr/>
          <p:nvPr/>
        </p:nvGraphicFramePr>
        <p:xfrm>
          <a:off x="502920" y="2788920"/>
          <a:ext cx="11155320" cy="240804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1097280"/>
                <a:gridCol w="1097280"/>
                <a:gridCol w="1280160"/>
                <a:gridCol w="1463040"/>
                <a:gridCol w="146304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Model, style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PSNR (dB)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SSIM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LPIPS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Sharpness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Colour travel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Flicker vs teacher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solidFill>
                      <a:srgbClr val="800000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Two-style model, oil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35.33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0.9807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0.0225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0.946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0.995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0.54×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Two-style model, watercolour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34.79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0.9786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0.0243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0.937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0.987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0.48×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Oil-only model (reference)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35.43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0.9814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0.0216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0.946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0.980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0.54×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Native frame (do nothing)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28.06 / 26.96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–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–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–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–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–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BFBFBF"/>
                      </a:solidFill>
                      <a:prstDash val="solid"/>
                    </a:lnL>
                    <a:lnR w="9360">
                      <a:solidFill>
                        <a:srgbClr val="BFBFBF"/>
                      </a:solidFill>
                      <a:prstDash val="solid"/>
                    </a:lnR>
                    <a:lnT w="9360">
                      <a:solidFill>
                        <a:srgbClr val="BFBFBF"/>
                      </a:solidFill>
                      <a:prstDash val="solid"/>
                    </a:lnT>
                    <a:lnB w="9360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6" name="Text 5"/>
          <p:cNvSpPr/>
          <p:nvPr/>
        </p:nvSpPr>
        <p:spPr>
          <a:xfrm>
            <a:off x="502920" y="5257800"/>
            <a:ext cx="11154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95959"/>
                </a:solidFill>
                <a:effectLst/>
                <a:uFillTx/>
                <a:latin typeface="Times New Roman"/>
              </a:rPr>
              <a:t>Gates: sharpness ≥ 0.90 and colour travel ≥ 0.80; both styles pass.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14"/>
          </p:nvPr>
        </p:nvSpPr>
        <p:spPr>
          <a:xfrm>
            <a:off x="502920" y="6382440"/>
            <a:ext cx="547920" cy="3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C40F46F4-D157-46A2-A737-6349843F4C22}" type="slidenum">
              <a: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 hasCustomPrompt="1"/>
          </p:nvPr>
        </p:nvSpPr>
        <p:spPr>
          <a:xfrm>
            <a:off x="502920" y="274320"/>
            <a:ext cx="11154960" cy="86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Results: Ablation and Live Speed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9" name="Chart 0"/>
          <p:cNvGraphicFramePr/>
          <p:nvPr/>
        </p:nvGraphicFramePr>
        <p:xfrm>
          <a:off x="502920" y="1325880"/>
          <a:ext cx="5485680" cy="4754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0" name="Chart 1"/>
          <p:cNvGraphicFramePr/>
          <p:nvPr/>
        </p:nvGraphicFramePr>
        <p:xfrm>
          <a:off x="6263640" y="1325880"/>
          <a:ext cx="5394240" cy="4754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1" name="PlaceHolder 2"/>
          <p:cNvSpPr>
            <a:spLocks noGrp="1"/>
          </p:cNvSpPr>
          <p:nvPr>
            <p:ph type="sldNum" idx="15"/>
          </p:nvPr>
        </p:nvSpPr>
        <p:spPr>
          <a:xfrm>
            <a:off x="502920" y="6382440"/>
            <a:ext cx="547920" cy="3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6B73AF4-CCB8-483E-BD17-D3F19143DB31}" type="slidenum">
              <a: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 hasCustomPrompt="1"/>
          </p:nvPr>
        </p:nvSpPr>
        <p:spPr>
          <a:xfrm>
            <a:off x="502920" y="274320"/>
            <a:ext cx="11154960" cy="86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Output: StructRender Live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3" name="Image 0" descr="Native frame and live StructRender oil and watercolour"/>
          <p:cNvPicPr/>
          <p:nvPr/>
        </p:nvPicPr>
        <p:blipFill>
          <a:blip r:embed="rId1"/>
          <a:stretch/>
        </p:blipFill>
        <p:spPr>
          <a:xfrm>
            <a:off x="502920" y="1280160"/>
            <a:ext cx="11154960" cy="231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 1" descr="Native input, teacher target and model output for both styles"/>
          <p:cNvPicPr/>
          <p:nvPr/>
        </p:nvPicPr>
        <p:blipFill>
          <a:blip r:embed="rId2"/>
          <a:stretch/>
        </p:blipFill>
        <p:spPr>
          <a:xfrm>
            <a:off x="1692000" y="3592440"/>
            <a:ext cx="5851440" cy="249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1"/>
          <p:cNvSpPr/>
          <p:nvPr/>
        </p:nvSpPr>
        <p:spPr>
          <a:xfrm>
            <a:off x="8275320" y="3749040"/>
            <a:ext cx="338256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95959"/>
                </a:solidFill>
                <a:effectLst/>
                <a:uFillTx/>
                <a:latin typeface="Times New Roman"/>
              </a:rPr>
              <a:t>Top: one live game frame, native vs. StructRender oil and watercolour (TensorRT FP16, 44.6 fps). Bottom: sealed test frame, native input, teacher target and model output.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16"/>
          </p:nvPr>
        </p:nvSpPr>
        <p:spPr>
          <a:xfrm>
            <a:off x="502920" y="6382440"/>
            <a:ext cx="547920" cy="3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F4D49E4-E923-4175-AD4A-5EFA5584248F}" type="slidenum">
              <a: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 hasCustomPrompt="1"/>
          </p:nvPr>
        </p:nvSpPr>
        <p:spPr>
          <a:xfrm>
            <a:off x="502920" y="274320"/>
            <a:ext cx="11154960" cy="86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Output: Web Game Demo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78" name="Image 0" descr="Street scene: original look and 16 visual themes in the web game"/>
          <p:cNvPicPr/>
          <p:nvPr/>
        </p:nvPicPr>
        <p:blipFill>
          <a:blip r:embed="rId1"/>
          <a:stretch/>
        </p:blipFill>
        <p:spPr>
          <a:xfrm>
            <a:off x="502920" y="1280160"/>
            <a:ext cx="5485680" cy="389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Image 1" descr="Swinging scene: original look and 16 visual themes in the web game"/>
          <p:cNvPicPr/>
          <p:nvPr/>
        </p:nvPicPr>
        <p:blipFill>
          <a:blip r:embed="rId2"/>
          <a:stretch/>
        </p:blipFill>
        <p:spPr>
          <a:xfrm>
            <a:off x="6172200" y="1280160"/>
            <a:ext cx="5485680" cy="38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 1"/>
          <p:cNvSpPr/>
          <p:nvPr/>
        </p:nvSpPr>
        <p:spPr>
          <a:xfrm>
            <a:off x="502920" y="5303520"/>
            <a:ext cx="11154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95959"/>
                </a:solidFill>
                <a:effectLst/>
                <a:uFillTx/>
                <a:latin typeface="Times New Roman"/>
              </a:rPr>
              <a:t>one live game frame, native vs. StructRender  (TensorRT FP16, 44.6 fps) 16 hand-made shader themes.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ldNum" idx="17"/>
          </p:nvPr>
        </p:nvSpPr>
        <p:spPr>
          <a:xfrm>
            <a:off x="502920" y="6382440"/>
            <a:ext cx="547920" cy="3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206BB7CF-A368-49DB-B248-D3AB23614037}" type="slidenum">
              <a: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 hasCustomPrompt="1"/>
          </p:nvPr>
        </p:nvSpPr>
        <p:spPr>
          <a:xfrm>
            <a:off x="502920" y="274320"/>
            <a:ext cx="11154960" cy="86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Future Scope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Text 1"/>
          <p:cNvSpPr/>
          <p:nvPr/>
        </p:nvSpPr>
        <p:spPr>
          <a:xfrm>
            <a:off x="502920" y="1371600"/>
            <a:ext cx="11154960" cy="48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t">
            <a:noAutofit/>
          </a:bodyPr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Consistent teacher: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video-consistent diffusion or authored textures, which limit both stability and EPAM today.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Re-test EPAM: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scenes with many entities, occlusions and recycled IDs, as a new pre-registered experiment.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Higher resolution: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super-resolution from 512 × 288 targets, or new styles designed at 768 × 432.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Broader evaluation: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more games and textured scenes, human play, repeated seeds, INT8/FP8 inference.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18"/>
          </p:nvPr>
        </p:nvSpPr>
        <p:spPr>
          <a:xfrm>
            <a:off x="502920" y="6382440"/>
            <a:ext cx="547920" cy="3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EC9B2EA-B04B-4A2F-948F-4DE6BC3ECA70}" type="slidenum">
              <a: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 hasCustomPrompt="1"/>
          </p:nvPr>
        </p:nvSpPr>
        <p:spPr>
          <a:xfrm>
            <a:off x="502920" y="274320"/>
            <a:ext cx="11154960" cy="86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Conclusion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Text 1"/>
          <p:cNvSpPr/>
          <p:nvPr/>
        </p:nvSpPr>
        <p:spPr>
          <a:xfrm>
            <a:off x="502920" y="1371600"/>
            <a:ext cx="11154960" cy="48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 learned painted style was added to a playable game, with the engine keeping all game state.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Gated diffusion supervision and a temporal two-style U-Net reach 35.33 / 34.79 dB and sharpness 0.946 / 0.937.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renderer flickers about half as much as its own teacher (0.54× and 0.48×).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It runs live at 44.6 fps (4.53 ms per TensorRT FP16 step), with 0 fallbacks in 3,000 frames.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live frame matches the evaluated model to within one colour level.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00000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Honest negatives: the transformer [17] did not beat the U-Net, and EPAM did not improve output on this data.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ldNum" idx="19"/>
          </p:nvPr>
        </p:nvSpPr>
        <p:spPr>
          <a:xfrm>
            <a:off x="502920" y="6382440"/>
            <a:ext cx="547920" cy="3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32DA3D7-617A-4607-92C9-1D5ED5E9F3BA}" type="slidenum">
              <a: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 hasCustomPrompt="1"/>
          </p:nvPr>
        </p:nvSpPr>
        <p:spPr>
          <a:xfrm>
            <a:off x="502920" y="274320"/>
            <a:ext cx="11154960" cy="86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References (1/2)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Text 1"/>
          <p:cNvSpPr/>
          <p:nvPr/>
        </p:nvSpPr>
        <p:spPr>
          <a:xfrm>
            <a:off x="502920" y="1325880"/>
            <a:ext cx="11154960" cy="48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[1]  A. Tewari et al., "State of the art on neural rendering," Comput. Graph. Forum, vol. 39, no. 2, pp. 701–727, 2020.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[2]  T. Saito and T. Takahashi, "Comprehensible rendering of 3-D shapes," ACM SIGGRAPH Comput. Graph., vol. 24, no. 4, pp. 197–206, 1990.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[3]  O. Nalbach, E. Arabadzhiyska, D. Mehta, H.-P. Seidel, and T. Ritschel, "Deep shading: Convolutional neural networks for screen space shading," Comput. Graph. Forum, vol. 36, no. 4, pp. 65–78, 2017.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[4]  L. Xiao, S. Nouri, M. Chapman, A. Fix, D. Lanman, and A. Kaplanyan, "Neural supersampling for real-time rendering," ACM Trans. Graph., vol. 39, no. 4, 2020.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[5]  S. R. Richter, H. A. Alhaija, and V. Koltun, "Enhancing photorealism enhancement," IEEE Trans. Pattern Anal. Mach. Intell., vol. 45, no. 2, pp. 1700–1715, 2023.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[6]  P. Isola, J.-Y. Zhu, T. Zhou, and A. A. Efros, "Image-to-image translation with conditional adversarial networks," in Proc. IEEE CVPR, 2017, pp. 5967–5976.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[7]  T.-C. Wang et al., "Video-to-video synthesis," in Advances in Neural Information Processing Systems (NeurIPS), 2018.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[8]  A. Mallya, T.-C. Wang, K. Sapra, and M.-Y. Liu, "World-consistent video-to-video synthesis," in Proc. ECCV, 2020, pp. 359–378.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[9]  W.-S. Lai et al., "Learning blind video temporal consistency," in Proc. ECCV, 2018, pp. 179–195.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[10]  D. Valevski, Y. Leviathan, M. Arar, and S. Fruchter, "Diffusion models are real-time game engines," in Proc. ICLR, 2025.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ldNum" idx="20"/>
          </p:nvPr>
        </p:nvSpPr>
        <p:spPr>
          <a:xfrm>
            <a:off x="502920" y="6382440"/>
            <a:ext cx="547920" cy="3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4D837F9B-19C3-4161-B7C2-027C50CE9D82}" type="slidenum">
              <a: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 hasCustomPrompt="1"/>
          </p:nvPr>
        </p:nvSpPr>
        <p:spPr>
          <a:xfrm>
            <a:off x="502920" y="274320"/>
            <a:ext cx="11154960" cy="86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2"/>
                </a:solidFill>
                <a:effectLst/>
                <a:uFillTx/>
                <a:latin typeface="Times New Roman"/>
                <a:ea typeface="Times New Roman"/>
              </a:rPr>
              <a:t>References (2/2)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Text 1"/>
          <p:cNvSpPr/>
          <p:nvPr/>
        </p:nvSpPr>
        <p:spPr>
          <a:xfrm>
            <a:off x="502920" y="1325880"/>
            <a:ext cx="11154960" cy="48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Autofit/>
          </a:bodyPr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[11]  J. Bruce et al., "Genie: Generative interactive environments," arXiv:2402.15391, 2024.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[12]  L. Zhang, A. Rao, and M. Agrawala, "Adding conditional control to text-to-image diffusion models," in Proc. IEEE/CVF ICCV, 2023, pp. 3813–3824.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[13]  R. Rombach, A. Blattmann, D. Lorenz, P. Esser, and B. Ommer, "High-resolution image synthesis with latent diffusion models," in Proc. IEEE/CVF CVPR, 2022, pp. 10674–10685.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[14]  O. Ronneberger, P. Fischer, and T. Brox, "U-Net: Convolutional networks for biomedical image segmentation," in Proc. MICCAI, 2015, pp. 234–241.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[15]  E. Perez, F. Strub, H. de Vries, V. Dumoulin, and A. Courville, "FiLM: Visual reasoning with a general conditioning layer," in Proc. AAAI, vol. 32, no. 1, 2018.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[16]  R. Zhang, P. Isola, A. A. Efros, E. Shechtman, and O. Wang, "The unreasonable effectiveness of deep features as a perceptual metric," in Proc. IEEE/CVF CVPR, 2018, pp. 586–595.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[17]  Z. Liu et al., "Swin Transformer: Hierarchical vision transformer using shifted windows," in Proc. IEEE/CVF ICCV, 2021, pp. 9992–10002.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[18]  NVIDIA Corporation, "NVIDIA TensorRT documentation." [Online]. Available: https://docs.nvidia.com/deeplearning/tensorrt/latest/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[19]  Godot Engine contributors, "Godot Engine documentation." [Online]. Available: https://docs.godotengine.org/en/stable/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21"/>
          </p:nvPr>
        </p:nvSpPr>
        <p:spPr>
          <a:xfrm>
            <a:off x="502920" y="6382440"/>
            <a:ext cx="547920" cy="3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44236B57-0E32-4221-AA3B-3D20EE73ADF4}" type="slidenum">
              <a:rPr lang="en-US" sz="1200" b="0" u="none" strike="noStrike">
                <a:solidFill>
                  <a:srgbClr val="595959"/>
                </a:solidFill>
                <a:effectLst/>
                <a:uFillTx/>
                <a:latin typeface="Times New Roman"/>
                <a:ea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548640" y="2377440"/>
            <a:ext cx="110908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800000"/>
                </a:solidFill>
                <a:effectLst/>
                <a:uFillTx/>
                <a:latin typeface="Times New Roman"/>
              </a:rPr>
              <a:t>Thank You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548640" y="3657600"/>
            <a:ext cx="11090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Questions?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tructRender Maroon">
  <a:themeElements>
    <a:clrScheme name="StructRender Maroon">
      <a:dk1>
        <a:srgbClr val="000000"/>
      </a:dk1>
      <a:lt1>
        <a:srgbClr val="FFFFFF"/>
      </a:lt1>
      <a:dk2>
        <a:srgbClr val="800000"/>
      </a:dk2>
      <a:lt2>
        <a:srgbClr val="F6EEEE"/>
      </a:lt2>
      <a:accent1>
        <a:srgbClr val="800000"/>
      </a:accent1>
      <a:accent2>
        <a:srgbClr val="B5651D"/>
      </a:accent2>
      <a:accent3>
        <a:srgbClr val="595959"/>
      </a:accent3>
      <a:accent4>
        <a:srgbClr val="C9A3A3"/>
      </a:accent4>
      <a:accent5>
        <a:srgbClr val="404040"/>
      </a:accent5>
      <a:accent6>
        <a:srgbClr val="8C8C8C"/>
      </a:accent6>
      <a:hlink>
        <a:srgbClr val="800000"/>
      </a:hlink>
      <a:folHlink>
        <a:srgbClr val="5C0000"/>
      </a:folHlink>
    </a:clrScheme>
    <a:fontScheme name="StructRender Maroon">
      <a:majorFont>
        <a:latin typeface="Times New Roman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LibreOffice/26.8.0.3$Linux_X86_64 LibreOffice_project/680$Build-3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2026-10-29T06:41:06Z</dcterms:created>
  <dc:creator>Kabilash S, Pavitra P</dc:creator>
  <dc:description/>
  <dc:language>en-US</dc:language>
  <cp:lastModifiedBy/>
  <dcterms:modified xsi:type="dcterms:W3CDTF">2026-10-30T11:58:07Z</dcterms:modified>
  <cp:revision>3</cp:revision>
  <dc:subject>PptxGenJS Presentation</dc:subject>
  <dc:title>StructRender: Engine-Grounded Real-Time Neural Rendering of a Game in Learned Painterly Styles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On-screen Show (16:9)</vt:lpwstr>
  </property>
  <property fmtid="{D5CDD505-2E9C-101B-9397-08002B2CF9AE}" pid="4" name="Slides">
    <vt:i4>19</vt:i4>
  </property>
</Properties>
</file>